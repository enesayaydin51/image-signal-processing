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Montserrat"/>
      <p:regular r:id="rId19"/>
      <p:bold r:id="rId20"/>
      <p:italic r:id="rId21"/>
      <p:boldItalic r:id="rId22"/>
    </p:embeddedFont>
    <p:embeddedFont>
      <p:font typeface="Lato"/>
      <p:regular r:id="rId23"/>
      <p:bold r:id="rId24"/>
      <p:italic r:id="rId25"/>
      <p:boldItalic r:id="rId26"/>
    </p:embeddedFont>
    <p:embeddedFont>
      <p:font typeface="Roboto Mono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.fntdata"/><Relationship Id="rId22" Type="http://schemas.openxmlformats.org/officeDocument/2006/relationships/font" Target="fonts/Montserrat-boldItalic.fntdata"/><Relationship Id="rId21" Type="http://schemas.openxmlformats.org/officeDocument/2006/relationships/font" Target="fonts/Montserrat-italic.fntdata"/><Relationship Id="rId24" Type="http://schemas.openxmlformats.org/officeDocument/2006/relationships/font" Target="fonts/Lato-bold.fntdata"/><Relationship Id="rId23" Type="http://schemas.openxmlformats.org/officeDocument/2006/relationships/font" Target="fonts/La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boldItalic.fntdata"/><Relationship Id="rId25" Type="http://schemas.openxmlformats.org/officeDocument/2006/relationships/font" Target="fonts/Lato-italic.fntdata"/><Relationship Id="rId28" Type="http://schemas.openxmlformats.org/officeDocument/2006/relationships/font" Target="fonts/RobotoMono-bold.fntdata"/><Relationship Id="rId27" Type="http://schemas.openxmlformats.org/officeDocument/2006/relationships/font" Target="fonts/RobotoMon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Mon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font" Target="fonts/RobotoMon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Montserrat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b08d47d72b_0_6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b08d47d72b_0_6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866a26fdd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866a26fdd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b08d47d72b_0_6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b08d47d72b_0_6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866a26fdd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866a26fdd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b08d47d72b_0_6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b08d47d72b_0_6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b08d47d72b_0_7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b08d47d72b_0_7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b08d47d72b_0_7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b08d47d72b_0_7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866a26fdd3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866a26fdd3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b08d47d72b_0_7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b08d47d72b_0_7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b08d47d72b_0_7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b08d47d72b_0_7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866a26fdd3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866a26fdd3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b08d47d72b_0_7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b08d47d72b_0_7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main.py" TargetMode="External"/><Relationship Id="rId4" Type="http://schemas.openxmlformats.org/officeDocument/2006/relationships/hyperlink" Target="http://main.py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094775" y="935475"/>
            <a:ext cx="5892600" cy="140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tr" sz="2400"/>
              <a:t>Contrast Adjustment Techniques for Low-Light Images</a:t>
            </a:r>
            <a:endParaRPr sz="2400"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2911625" y="3155713"/>
            <a:ext cx="3188100" cy="140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 sz="1400"/>
              <a:t>Image Signal Processing </a:t>
            </a:r>
            <a:r>
              <a:rPr lang="tr" sz="1400"/>
              <a:t> -  Group 23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tr"/>
              <a:t>Muhammed Enes Uluç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tr"/>
              <a:t>Enes Ayaydın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tr"/>
              <a:t>Büşra Yıldız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6" name="Google Shape;136;p13" title="Screenshot from 2025-12-15 10-12-04.png"/>
          <p:cNvPicPr preferRelativeResize="0"/>
          <p:nvPr/>
        </p:nvPicPr>
        <p:blipFill rotWithShape="1">
          <a:blip r:embed="rId3">
            <a:alphaModFix/>
          </a:blip>
          <a:srcRect b="3789" l="3360" r="-3359" t="-3790"/>
          <a:stretch/>
        </p:blipFill>
        <p:spPr>
          <a:xfrm>
            <a:off x="171775" y="2881613"/>
            <a:ext cx="2511450" cy="1953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3" title="Screenshot from 2025-12-15 10-12-1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28125" y="2917588"/>
            <a:ext cx="2427800" cy="188177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3"/>
          <p:cNvSpPr/>
          <p:nvPr/>
        </p:nvSpPr>
        <p:spPr>
          <a:xfrm>
            <a:off x="3347575" y="4439650"/>
            <a:ext cx="2151300" cy="395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4"/>
          <p:cNvSpPr txBox="1"/>
          <p:nvPr>
            <p:ph type="title"/>
          </p:nvPr>
        </p:nvSpPr>
        <p:spPr>
          <a:xfrm>
            <a:off x="1231575" y="15470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Problem Definition and Objectives</a:t>
            </a:r>
            <a:endParaRPr/>
          </a:p>
        </p:txBody>
      </p:sp>
      <p:sp>
        <p:nvSpPr>
          <p:cNvPr id="144" name="Google Shape;144;p14"/>
          <p:cNvSpPr txBox="1"/>
          <p:nvPr/>
        </p:nvSpPr>
        <p:spPr>
          <a:xfrm>
            <a:off x="372500" y="1350775"/>
            <a:ext cx="39138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tr">
                <a:solidFill>
                  <a:schemeClr val="lt2"/>
                </a:solidFill>
              </a:rPr>
              <a:t>Problem: </a:t>
            </a:r>
            <a:endParaRPr b="1">
              <a:solidFill>
                <a:schemeClr val="lt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r" sz="1200">
                <a:solidFill>
                  <a:schemeClr val="lt1"/>
                </a:solidFill>
              </a:rPr>
              <a:t>Images taken in low-light conditions (night, indoors) suffer from low contrast. Valuable data is hidden in dark pixels.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1"/>
              </a:solidFill>
            </a:endParaRPr>
          </a:p>
        </p:txBody>
      </p:sp>
      <p:sp>
        <p:nvSpPr>
          <p:cNvPr id="145" name="Google Shape;145;p14"/>
          <p:cNvSpPr txBox="1"/>
          <p:nvPr/>
        </p:nvSpPr>
        <p:spPr>
          <a:xfrm>
            <a:off x="4706600" y="1350775"/>
            <a:ext cx="3997800" cy="20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tr">
                <a:solidFill>
                  <a:schemeClr val="lt2"/>
                </a:solidFill>
              </a:rPr>
              <a:t>Objective</a:t>
            </a:r>
            <a:r>
              <a:rPr b="1" lang="tr" sz="1200">
                <a:solidFill>
                  <a:schemeClr val="lt1"/>
                </a:solidFill>
              </a:rPr>
              <a:t>:</a:t>
            </a:r>
            <a:endParaRPr b="1"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tr" sz="1200">
                <a:solidFill>
                  <a:schemeClr val="lt1"/>
                </a:solidFill>
              </a:rPr>
              <a:t>To uncover hidden details.</a:t>
            </a:r>
            <a:endParaRPr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tr" sz="1200">
                <a:solidFill>
                  <a:schemeClr val="lt1"/>
                </a:solidFill>
              </a:rPr>
              <a:t>To manipulate image intensity distributions using point-wise signal processing methods.</a:t>
            </a:r>
            <a:endParaRPr sz="1200">
              <a:solidFill>
                <a:schemeClr val="lt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lang="tr" sz="1200">
                <a:solidFill>
                  <a:schemeClr val="lt1"/>
                </a:solidFill>
              </a:rPr>
              <a:t>To mathematically validate the results using Python (OpenCV &amp; Matplotlib).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46" name="Google Shape;146;p14" title="Screenshot from 2025-12-15 10-25-3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724" y="3100525"/>
            <a:ext cx="2946025" cy="1803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4" title="Screenshot from 2025-12-15 10-25-4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96250" y="3100525"/>
            <a:ext cx="3032250" cy="1803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5"/>
          <p:cNvSpPr txBox="1"/>
          <p:nvPr>
            <p:ph type="title"/>
          </p:nvPr>
        </p:nvSpPr>
        <p:spPr>
          <a:xfrm>
            <a:off x="908525" y="393750"/>
            <a:ext cx="7905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Dataset Description</a:t>
            </a:r>
            <a:endParaRPr/>
          </a:p>
        </p:txBody>
      </p:sp>
      <p:sp>
        <p:nvSpPr>
          <p:cNvPr id="153" name="Google Shape;153;p15"/>
          <p:cNvSpPr txBox="1"/>
          <p:nvPr>
            <p:ph idx="1" type="body"/>
          </p:nvPr>
        </p:nvSpPr>
        <p:spPr>
          <a:xfrm>
            <a:off x="1077050" y="1648175"/>
            <a:ext cx="7656600" cy="235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r" sz="1200"/>
              <a:t>Bullet Points:</a:t>
            </a:r>
            <a:endParaRPr b="1" sz="1200"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tr" sz="1200"/>
              <a:t>The dataset consist of low-light RGB images collected from multiple sources.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tr" sz="1200"/>
              <a:t>Part of the dataset was </a:t>
            </a:r>
            <a:r>
              <a:rPr lang="tr" sz="1200"/>
              <a:t>obtained</a:t>
            </a:r>
            <a:r>
              <a:rPr lang="tr" sz="1200"/>
              <a:t> from the LOL (Low-Light) Dataset, which is a commonly used benchmark for low-light image enhancement.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tr" sz="1200"/>
              <a:t>Additional low-light images were collected manually by searching on Google Images to increase scene diversity.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tr" sz="1200"/>
              <a:t>Images were loaded in BGR format (OpenCV standard) and converted to RGB for visualization.</a:t>
            </a:r>
            <a:endParaRPr sz="12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6"/>
          <p:cNvSpPr txBox="1"/>
          <p:nvPr>
            <p:ph type="title"/>
          </p:nvPr>
        </p:nvSpPr>
        <p:spPr>
          <a:xfrm>
            <a:off x="1052550" y="393775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Methodology Overview</a:t>
            </a:r>
            <a:endParaRPr/>
          </a:p>
        </p:txBody>
      </p:sp>
      <p:sp>
        <p:nvSpPr>
          <p:cNvPr id="159" name="Google Shape;159;p16"/>
          <p:cNvSpPr txBox="1"/>
          <p:nvPr/>
        </p:nvSpPr>
        <p:spPr>
          <a:xfrm>
            <a:off x="2736600" y="1698025"/>
            <a:ext cx="4747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0" name="Google Shape;160;p16"/>
          <p:cNvSpPr txBox="1"/>
          <p:nvPr/>
        </p:nvSpPr>
        <p:spPr>
          <a:xfrm>
            <a:off x="2889000" y="1850425"/>
            <a:ext cx="4747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1" name="Google Shape;161;p16"/>
          <p:cNvSpPr txBox="1"/>
          <p:nvPr/>
        </p:nvSpPr>
        <p:spPr>
          <a:xfrm>
            <a:off x="3041400" y="2002825"/>
            <a:ext cx="4747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2" name="Google Shape;162;p16"/>
          <p:cNvSpPr txBox="1"/>
          <p:nvPr/>
        </p:nvSpPr>
        <p:spPr>
          <a:xfrm>
            <a:off x="901200" y="1698025"/>
            <a:ext cx="7235700" cy="20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tr" sz="1200">
                <a:solidFill>
                  <a:schemeClr val="lt1"/>
                </a:solidFill>
              </a:rPr>
              <a:t>Bullet Points:</a:t>
            </a:r>
            <a:r>
              <a:rPr lang="tr" sz="1200">
                <a:solidFill>
                  <a:schemeClr val="lt1"/>
                </a:solidFill>
              </a:rPr>
              <a:t> We implemented three different signal processing techniques to solve this problem: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b="1" lang="tr" sz="1200">
                <a:solidFill>
                  <a:schemeClr val="lt1"/>
                </a:solidFill>
              </a:rPr>
              <a:t>Power-Law Transformation (Gamma Correction): </a:t>
            </a:r>
            <a:r>
              <a:rPr lang="tr" sz="1200">
                <a:solidFill>
                  <a:schemeClr val="lt1"/>
                </a:solidFill>
              </a:rPr>
              <a:t>Focuses on global brightness and natural look.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b="1" lang="tr" sz="1200">
                <a:solidFill>
                  <a:schemeClr val="lt1"/>
                </a:solidFill>
              </a:rPr>
              <a:t>CLAHE (Contrast Limited Adaptive Histogram Equalization): </a:t>
            </a:r>
            <a:r>
              <a:rPr lang="tr" sz="1200">
                <a:solidFill>
                  <a:schemeClr val="lt1"/>
                </a:solidFill>
              </a:rPr>
              <a:t>Focuses on local details and noise control.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</a:pPr>
            <a:r>
              <a:rPr b="1" lang="tr" sz="1200">
                <a:solidFill>
                  <a:schemeClr val="lt1"/>
                </a:solidFill>
              </a:rPr>
              <a:t>Adaptive Thresholding: </a:t>
            </a:r>
            <a:r>
              <a:rPr lang="tr" sz="1200">
                <a:solidFill>
                  <a:schemeClr val="lt1"/>
                </a:solidFill>
              </a:rPr>
              <a:t>Focuses on structural segmentation (edges).</a:t>
            </a:r>
            <a:endParaRPr sz="13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7"/>
          <p:cNvSpPr txBox="1"/>
          <p:nvPr>
            <p:ph type="title"/>
          </p:nvPr>
        </p:nvSpPr>
        <p:spPr>
          <a:xfrm>
            <a:off x="913150" y="393750"/>
            <a:ext cx="7879800" cy="55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Processing Pipeline</a:t>
            </a:r>
            <a:endParaRPr/>
          </a:p>
        </p:txBody>
      </p:sp>
      <p:sp>
        <p:nvSpPr>
          <p:cNvPr id="168" name="Google Shape;168;p17"/>
          <p:cNvSpPr txBox="1"/>
          <p:nvPr>
            <p:ph idx="1" type="body"/>
          </p:nvPr>
        </p:nvSpPr>
        <p:spPr>
          <a:xfrm>
            <a:off x="985725" y="1027600"/>
            <a:ext cx="7879800" cy="39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440"/>
              <a:buNone/>
            </a:pPr>
            <a:r>
              <a:rPr lang="tr" sz="880"/>
              <a:t>1- Dataset Images</a:t>
            </a:r>
            <a:endParaRPr sz="880"/>
          </a:p>
          <a:p>
            <a:pPr indent="-28702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20"/>
              <a:buChar char="●"/>
            </a:pPr>
            <a:r>
              <a:rPr lang="tr" sz="880">
                <a:latin typeface="Arial"/>
                <a:ea typeface="Arial"/>
                <a:cs typeface="Arial"/>
                <a:sym typeface="Arial"/>
              </a:rPr>
              <a:t>Low-light images are provided in the </a:t>
            </a:r>
            <a:r>
              <a:rPr lang="tr" sz="880" u="sng">
                <a:latin typeface="Roboto Mono"/>
                <a:ea typeface="Roboto Mono"/>
                <a:cs typeface="Roboto Mono"/>
                <a:sym typeface="Roboto Mono"/>
              </a:rPr>
              <a:t>dataset</a:t>
            </a:r>
            <a:r>
              <a:rPr lang="tr" sz="880">
                <a:latin typeface="Roboto Mono"/>
                <a:ea typeface="Roboto Mono"/>
                <a:cs typeface="Roboto Mono"/>
                <a:sym typeface="Roboto Mono"/>
              </a:rPr>
              <a:t>/</a:t>
            </a:r>
            <a:r>
              <a:rPr lang="tr" sz="880">
                <a:latin typeface="Arial"/>
                <a:ea typeface="Arial"/>
                <a:cs typeface="Arial"/>
                <a:sym typeface="Arial"/>
              </a:rPr>
              <a:t> directory.</a:t>
            </a:r>
            <a:endParaRPr sz="92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tr" sz="880"/>
              <a:t>2- </a:t>
            </a:r>
            <a:r>
              <a:rPr lang="tr" sz="880" u="sng">
                <a:solidFill>
                  <a:schemeClr val="hlink"/>
                </a:solidFill>
                <a:hlinkClick r:id="rId3"/>
              </a:rPr>
              <a:t>main.py</a:t>
            </a:r>
            <a:r>
              <a:rPr lang="tr" sz="880"/>
              <a:t> Execution</a:t>
            </a:r>
            <a:endParaRPr sz="880"/>
          </a:p>
          <a:p>
            <a:pPr indent="-28448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80"/>
              <a:buChar char="●"/>
            </a:pPr>
            <a:r>
              <a:rPr lang="tr" sz="880"/>
              <a:t>The processing pipeline is initiated by running the </a:t>
            </a:r>
            <a:r>
              <a:rPr lang="tr" sz="880" u="sng">
                <a:solidFill>
                  <a:schemeClr val="hlink"/>
                </a:solidFill>
                <a:hlinkClick r:id="rId4"/>
              </a:rPr>
              <a:t>main.py</a:t>
            </a:r>
            <a:r>
              <a:rPr lang="tr" sz="880"/>
              <a:t> script.</a:t>
            </a:r>
            <a:endParaRPr sz="88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tr" sz="880"/>
              <a:t>3- Automatic Folder Creation</a:t>
            </a:r>
            <a:endParaRPr sz="880"/>
          </a:p>
          <a:p>
            <a:pPr indent="-28448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80"/>
              <a:buChar char="●"/>
            </a:pPr>
            <a:r>
              <a:rPr lang="tr" sz="880"/>
              <a:t>The results/ directory is created automatically if it is not exists.</a:t>
            </a:r>
            <a:endParaRPr sz="880"/>
          </a:p>
          <a:p>
            <a:pPr indent="-28448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80"/>
              <a:buChar char="●"/>
            </a:pPr>
            <a:r>
              <a:rPr lang="tr" sz="880"/>
              <a:t>Separate</a:t>
            </a:r>
            <a:r>
              <a:rPr lang="tr" sz="880"/>
              <a:t> subfolders are generated for each enhancement </a:t>
            </a:r>
            <a:r>
              <a:rPr lang="tr" sz="880"/>
              <a:t>method</a:t>
            </a:r>
            <a:r>
              <a:rPr lang="tr" sz="880"/>
              <a:t>.</a:t>
            </a:r>
            <a:endParaRPr sz="88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tr" sz="880"/>
              <a:t>4- Apply Enhancement Methods</a:t>
            </a:r>
            <a:endParaRPr sz="880"/>
          </a:p>
          <a:p>
            <a:pPr indent="-28448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80"/>
              <a:buChar char="●"/>
            </a:pPr>
            <a:r>
              <a:rPr lang="tr" sz="880"/>
              <a:t>Power-Law Transformation</a:t>
            </a:r>
            <a:endParaRPr sz="880"/>
          </a:p>
          <a:p>
            <a:pPr indent="-28448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80"/>
              <a:buChar char="●"/>
            </a:pPr>
            <a:r>
              <a:rPr lang="tr" sz="880"/>
              <a:t>CLAHE</a:t>
            </a:r>
            <a:endParaRPr sz="880"/>
          </a:p>
          <a:p>
            <a:pPr indent="-28448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80"/>
              <a:buChar char="●"/>
            </a:pPr>
            <a:r>
              <a:rPr lang="tr" sz="880"/>
              <a:t>Thresholding</a:t>
            </a:r>
            <a:endParaRPr sz="88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tr" sz="880"/>
              <a:t>5- Save Method - Results</a:t>
            </a:r>
            <a:endParaRPr sz="880"/>
          </a:p>
          <a:p>
            <a:pPr indent="-28448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80"/>
              <a:buChar char="●"/>
            </a:pPr>
            <a:r>
              <a:rPr lang="tr" sz="880"/>
              <a:t>Enhanced images are saved into </a:t>
            </a:r>
            <a:r>
              <a:rPr lang="tr" sz="880"/>
              <a:t>their</a:t>
            </a:r>
            <a:r>
              <a:rPr lang="tr" sz="880"/>
              <a:t> </a:t>
            </a:r>
            <a:r>
              <a:rPr lang="tr" sz="880"/>
              <a:t>corresponding</a:t>
            </a:r>
            <a:r>
              <a:rPr lang="tr" sz="880"/>
              <a:t> method folders.</a:t>
            </a:r>
            <a:endParaRPr sz="88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tr" sz="880"/>
              <a:t>6- Demo Analysis (Histogram &amp; CDF)</a:t>
            </a:r>
            <a:endParaRPr sz="880"/>
          </a:p>
          <a:p>
            <a:pPr indent="-28448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80"/>
              <a:buChar char="●"/>
            </a:pPr>
            <a:r>
              <a:rPr lang="tr" sz="880"/>
              <a:t>Sample images are analyzed using histogram and CDF plotsç</a:t>
            </a:r>
            <a:endParaRPr sz="880"/>
          </a:p>
          <a:p>
            <a:pPr indent="-28448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80"/>
              <a:buChar char="●"/>
            </a:pPr>
            <a:r>
              <a:rPr lang="tr" sz="880"/>
              <a:t>Before-and-after </a:t>
            </a:r>
            <a:r>
              <a:rPr lang="tr" sz="880"/>
              <a:t>comparisons</a:t>
            </a:r>
            <a:r>
              <a:rPr lang="tr" sz="880"/>
              <a:t> are visualized to validate contrast </a:t>
            </a:r>
            <a:r>
              <a:rPr lang="tr" sz="880"/>
              <a:t>improvement</a:t>
            </a:r>
            <a:r>
              <a:rPr lang="tr" sz="880"/>
              <a:t>.</a:t>
            </a:r>
            <a:endParaRPr sz="88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8"/>
          <p:cNvSpPr txBox="1"/>
          <p:nvPr>
            <p:ph type="title"/>
          </p:nvPr>
        </p:nvSpPr>
        <p:spPr>
          <a:xfrm>
            <a:off x="1088050" y="385500"/>
            <a:ext cx="7632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 sz="2100"/>
              <a:t>Method 1 - Power-Law Transformation</a:t>
            </a:r>
            <a:endParaRPr sz="2100"/>
          </a:p>
        </p:txBody>
      </p:sp>
      <p:sp>
        <p:nvSpPr>
          <p:cNvPr id="174" name="Google Shape;174;p18"/>
          <p:cNvSpPr txBox="1"/>
          <p:nvPr>
            <p:ph idx="1" type="body"/>
          </p:nvPr>
        </p:nvSpPr>
        <p:spPr>
          <a:xfrm>
            <a:off x="1088050" y="1072950"/>
            <a:ext cx="7632900" cy="24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tr" sz="4857">
                <a:latin typeface="Arial"/>
                <a:ea typeface="Arial"/>
                <a:cs typeface="Arial"/>
                <a:sym typeface="Arial"/>
              </a:rPr>
              <a:t>Bullet Points:</a:t>
            </a:r>
            <a:endParaRPr b="1" sz="4857">
              <a:latin typeface="Arial"/>
              <a:ea typeface="Arial"/>
              <a:cs typeface="Arial"/>
              <a:sym typeface="Arial"/>
            </a:endParaRPr>
          </a:p>
          <a:p>
            <a:pPr indent="-305715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b="1" lang="tr" sz="4857">
                <a:latin typeface="Arial"/>
                <a:ea typeface="Arial"/>
                <a:cs typeface="Arial"/>
                <a:sym typeface="Arial"/>
              </a:rPr>
              <a:t>Formula:</a:t>
            </a:r>
            <a:r>
              <a:rPr lang="tr" sz="4857">
                <a:latin typeface="Arial"/>
                <a:ea typeface="Arial"/>
                <a:cs typeface="Arial"/>
                <a:sym typeface="Arial"/>
              </a:rPr>
              <a:t> s=c⋅rγ</a:t>
            </a:r>
            <a:endParaRPr sz="4857">
              <a:latin typeface="Arial"/>
              <a:ea typeface="Arial"/>
              <a:cs typeface="Arial"/>
              <a:sym typeface="Arial"/>
            </a:endParaRPr>
          </a:p>
          <a:p>
            <a:pPr indent="-305715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b="1" lang="tr" sz="4857">
                <a:latin typeface="Arial"/>
                <a:ea typeface="Arial"/>
                <a:cs typeface="Arial"/>
                <a:sym typeface="Arial"/>
              </a:rPr>
              <a:t>Logic:</a:t>
            </a:r>
            <a:r>
              <a:rPr lang="tr" sz="4857">
                <a:latin typeface="Arial"/>
                <a:ea typeface="Arial"/>
                <a:cs typeface="Arial"/>
                <a:sym typeface="Arial"/>
              </a:rPr>
              <a:t> We utilized a Gamma value (γ&lt;1) to expand dark input values into a wider range of output values.</a:t>
            </a:r>
            <a:endParaRPr sz="4857">
              <a:latin typeface="Arial"/>
              <a:ea typeface="Arial"/>
              <a:cs typeface="Arial"/>
              <a:sym typeface="Arial"/>
            </a:endParaRPr>
          </a:p>
          <a:p>
            <a:pPr indent="-305715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b="1" lang="tr" sz="4857">
                <a:latin typeface="Arial"/>
                <a:ea typeface="Arial"/>
                <a:cs typeface="Arial"/>
                <a:sym typeface="Arial"/>
              </a:rPr>
              <a:t>Why we use it:</a:t>
            </a:r>
            <a:r>
              <a:rPr lang="tr" sz="4857">
                <a:latin typeface="Arial"/>
                <a:ea typeface="Arial"/>
                <a:cs typeface="Arial"/>
                <a:sym typeface="Arial"/>
              </a:rPr>
              <a:t> It creates the most natural brightness adjustment without "washing out" the image.</a:t>
            </a:r>
            <a:endParaRPr b="1" sz="4857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tr" sz="4857">
                <a:latin typeface="Arial"/>
                <a:ea typeface="Arial"/>
                <a:cs typeface="Arial"/>
                <a:sym typeface="Arial"/>
              </a:rPr>
              <a:t>Where is it used?:</a:t>
            </a:r>
            <a:endParaRPr b="1" sz="4857">
              <a:latin typeface="Arial"/>
              <a:ea typeface="Arial"/>
              <a:cs typeface="Arial"/>
              <a:sym typeface="Arial"/>
            </a:endParaRPr>
          </a:p>
          <a:p>
            <a:pPr indent="-305715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b="1" lang="tr" sz="4857">
                <a:latin typeface="Arial"/>
                <a:ea typeface="Arial"/>
                <a:cs typeface="Arial"/>
                <a:sym typeface="Arial"/>
              </a:rPr>
              <a:t>Monitor &amp; TV Calibration:</a:t>
            </a:r>
            <a:r>
              <a:rPr lang="tr" sz="4857">
                <a:latin typeface="Arial"/>
                <a:ea typeface="Arial"/>
                <a:cs typeface="Arial"/>
                <a:sym typeface="Arial"/>
              </a:rPr>
              <a:t> To correct screen display outputs.</a:t>
            </a:r>
            <a:endParaRPr sz="4857">
              <a:latin typeface="Arial"/>
              <a:ea typeface="Arial"/>
              <a:cs typeface="Arial"/>
              <a:sym typeface="Arial"/>
            </a:endParaRPr>
          </a:p>
          <a:p>
            <a:pPr indent="-305715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b="1" lang="tr" sz="4857">
                <a:latin typeface="Arial"/>
                <a:ea typeface="Arial"/>
                <a:cs typeface="Arial"/>
                <a:sym typeface="Arial"/>
              </a:rPr>
              <a:t>Medical Imaging:</a:t>
            </a:r>
            <a:r>
              <a:rPr lang="tr" sz="4857">
                <a:latin typeface="Arial"/>
                <a:ea typeface="Arial"/>
                <a:cs typeface="Arial"/>
                <a:sym typeface="Arial"/>
              </a:rPr>
              <a:t> To improve visibility in MRI or CT scans.</a:t>
            </a:r>
            <a:endParaRPr sz="4857">
              <a:latin typeface="Arial"/>
              <a:ea typeface="Arial"/>
              <a:cs typeface="Arial"/>
              <a:sym typeface="Arial"/>
            </a:endParaRPr>
          </a:p>
          <a:p>
            <a:pPr indent="-305715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b="1" lang="tr" sz="4857">
                <a:latin typeface="Arial"/>
                <a:ea typeface="Arial"/>
                <a:cs typeface="Arial"/>
                <a:sym typeface="Arial"/>
              </a:rPr>
              <a:t>Photography:</a:t>
            </a:r>
            <a:r>
              <a:rPr lang="tr" sz="4857">
                <a:latin typeface="Arial"/>
                <a:ea typeface="Arial"/>
                <a:cs typeface="Arial"/>
                <a:sym typeface="Arial"/>
              </a:rPr>
              <a:t> To fix underexposed (dark) photos.</a:t>
            </a:r>
            <a:endParaRPr sz="4857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9"/>
          <p:cNvSpPr txBox="1"/>
          <p:nvPr>
            <p:ph type="title"/>
          </p:nvPr>
        </p:nvSpPr>
        <p:spPr>
          <a:xfrm>
            <a:off x="1079800" y="364050"/>
            <a:ext cx="7396800" cy="75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tr" sz="2100"/>
              <a:t>Method 2 - </a:t>
            </a:r>
            <a:r>
              <a:rPr lang="tr" sz="2100"/>
              <a:t>CLAHE (Adaptive Histogram Equalization)</a:t>
            </a:r>
            <a:endParaRPr sz="2100"/>
          </a:p>
        </p:txBody>
      </p:sp>
      <p:sp>
        <p:nvSpPr>
          <p:cNvPr id="180" name="Google Shape;180;p19"/>
          <p:cNvSpPr txBox="1"/>
          <p:nvPr>
            <p:ph idx="1" type="body"/>
          </p:nvPr>
        </p:nvSpPr>
        <p:spPr>
          <a:xfrm>
            <a:off x="1079800" y="1066675"/>
            <a:ext cx="76770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tr" sz="1200">
                <a:latin typeface="Arial"/>
                <a:ea typeface="Arial"/>
                <a:cs typeface="Arial"/>
                <a:sym typeface="Arial"/>
              </a:rPr>
              <a:t>Bullet Points:</a:t>
            </a:r>
            <a:endParaRPr b="1"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b="1" lang="tr" sz="1200">
                <a:latin typeface="Arial"/>
                <a:ea typeface="Arial"/>
                <a:cs typeface="Arial"/>
                <a:sym typeface="Arial"/>
              </a:rPr>
              <a:t>Logic:</a:t>
            </a:r>
            <a:r>
              <a:rPr lang="tr" sz="1200">
                <a:latin typeface="Arial"/>
                <a:ea typeface="Arial"/>
                <a:cs typeface="Arial"/>
                <a:sym typeface="Arial"/>
              </a:rPr>
              <a:t> It divides the image into small tiles and equalizes them individually. It limits noise amplification using a </a:t>
            </a:r>
            <a:r>
              <a:rPr lang="tr" sz="1200">
                <a:latin typeface="Roboto Mono"/>
                <a:ea typeface="Roboto Mono"/>
                <a:cs typeface="Roboto Mono"/>
                <a:sym typeface="Roboto Mono"/>
              </a:rPr>
              <a:t>clipLimit</a:t>
            </a:r>
            <a:r>
              <a:rPr lang="tr" sz="1200">
                <a:latin typeface="Arial"/>
                <a:ea typeface="Arial"/>
                <a:cs typeface="Arial"/>
                <a:sym typeface="Arial"/>
              </a:rPr>
              <a:t>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b="1" lang="tr" sz="1200">
                <a:latin typeface="Arial"/>
                <a:ea typeface="Arial"/>
                <a:cs typeface="Arial"/>
                <a:sym typeface="Arial"/>
              </a:rPr>
              <a:t>Implementation:</a:t>
            </a:r>
            <a:r>
              <a:rPr lang="tr" sz="1200">
                <a:latin typeface="Arial"/>
                <a:ea typeface="Arial"/>
                <a:cs typeface="Arial"/>
                <a:sym typeface="Arial"/>
              </a:rPr>
              <a:t> Applied only to the </a:t>
            </a:r>
            <a:r>
              <a:rPr b="1" lang="tr" sz="1200">
                <a:latin typeface="Arial"/>
                <a:ea typeface="Arial"/>
                <a:cs typeface="Arial"/>
                <a:sym typeface="Arial"/>
              </a:rPr>
              <a:t>L (Lightness)</a:t>
            </a:r>
            <a:r>
              <a:rPr lang="tr" sz="1200">
                <a:latin typeface="Arial"/>
                <a:ea typeface="Arial"/>
                <a:cs typeface="Arial"/>
                <a:sym typeface="Arial"/>
              </a:rPr>
              <a:t> channel in LAB color space to preserve color accuracy.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tr" sz="1200">
                <a:latin typeface="Arial"/>
                <a:ea typeface="Arial"/>
                <a:cs typeface="Arial"/>
                <a:sym typeface="Arial"/>
              </a:rPr>
              <a:t>Where is it used?:</a:t>
            </a:r>
            <a:endParaRPr b="1"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b="1" lang="tr" sz="1200">
                <a:latin typeface="Arial"/>
                <a:ea typeface="Arial"/>
                <a:cs typeface="Arial"/>
                <a:sym typeface="Arial"/>
              </a:rPr>
              <a:t>Medical X-Rays:</a:t>
            </a:r>
            <a:r>
              <a:rPr lang="tr" sz="1200">
                <a:latin typeface="Arial"/>
                <a:ea typeface="Arial"/>
                <a:cs typeface="Arial"/>
                <a:sym typeface="Arial"/>
              </a:rPr>
              <a:t> To see bone details clearly against soft tissue.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b="1" lang="tr" sz="1200">
                <a:latin typeface="Arial"/>
                <a:ea typeface="Arial"/>
                <a:cs typeface="Arial"/>
                <a:sym typeface="Arial"/>
              </a:rPr>
              <a:t>Underwater Photography:</a:t>
            </a:r>
            <a:r>
              <a:rPr lang="tr" sz="1200">
                <a:latin typeface="Arial"/>
                <a:ea typeface="Arial"/>
                <a:cs typeface="Arial"/>
                <a:sym typeface="Arial"/>
              </a:rPr>
              <a:t> To correct uneven lighting in murky water.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b="1" lang="tr" sz="1200">
                <a:latin typeface="Arial"/>
                <a:ea typeface="Arial"/>
                <a:cs typeface="Arial"/>
                <a:sym typeface="Arial"/>
              </a:rPr>
              <a:t>Satellite Imagery:</a:t>
            </a:r>
            <a:r>
              <a:rPr lang="tr" sz="1200">
                <a:latin typeface="Arial"/>
                <a:ea typeface="Arial"/>
                <a:cs typeface="Arial"/>
                <a:sym typeface="Arial"/>
              </a:rPr>
              <a:t> To remove fog or haze effects.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0"/>
          <p:cNvSpPr txBox="1"/>
          <p:nvPr>
            <p:ph type="title"/>
          </p:nvPr>
        </p:nvSpPr>
        <p:spPr>
          <a:xfrm>
            <a:off x="1104525" y="393750"/>
            <a:ext cx="76164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Method 3 - </a:t>
            </a:r>
            <a:r>
              <a:rPr lang="tr"/>
              <a:t>Adaptive Thresholding</a:t>
            </a:r>
            <a:endParaRPr/>
          </a:p>
        </p:txBody>
      </p:sp>
      <p:sp>
        <p:nvSpPr>
          <p:cNvPr id="186" name="Google Shape;186;p20"/>
          <p:cNvSpPr txBox="1"/>
          <p:nvPr>
            <p:ph idx="1" type="body"/>
          </p:nvPr>
        </p:nvSpPr>
        <p:spPr>
          <a:xfrm>
            <a:off x="1083825" y="1031775"/>
            <a:ext cx="76578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r" sz="1200">
                <a:latin typeface="Arial"/>
                <a:ea typeface="Arial"/>
                <a:cs typeface="Arial"/>
                <a:sym typeface="Arial"/>
              </a:rPr>
              <a:t>Bullet Points:</a:t>
            </a:r>
            <a:endParaRPr b="1"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b="1" lang="tr" sz="1200">
                <a:latin typeface="Arial"/>
                <a:ea typeface="Arial"/>
                <a:cs typeface="Arial"/>
                <a:sym typeface="Arial"/>
              </a:rPr>
              <a:t>Logic:</a:t>
            </a:r>
            <a:r>
              <a:rPr lang="tr" sz="1200">
                <a:latin typeface="Arial"/>
                <a:ea typeface="Arial"/>
                <a:cs typeface="Arial"/>
                <a:sym typeface="Arial"/>
              </a:rPr>
              <a:t> It calculates a unique threshold value for small regions (blocks) of the image.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b="1" lang="tr" sz="1200">
                <a:latin typeface="Arial"/>
                <a:ea typeface="Arial"/>
                <a:cs typeface="Arial"/>
                <a:sym typeface="Arial"/>
              </a:rPr>
              <a:t>Result:</a:t>
            </a:r>
            <a:r>
              <a:rPr lang="tr" sz="1200">
                <a:latin typeface="Arial"/>
                <a:ea typeface="Arial"/>
                <a:cs typeface="Arial"/>
                <a:sym typeface="Arial"/>
              </a:rPr>
              <a:t> It converts the image into binary (black &amp; white), highlighting structure over color.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tr" sz="1200">
                <a:latin typeface="Arial"/>
                <a:ea typeface="Arial"/>
                <a:cs typeface="Arial"/>
                <a:sym typeface="Arial"/>
              </a:rPr>
              <a:t>Where is it used?:</a:t>
            </a:r>
            <a:endParaRPr b="1"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b="1" lang="tr" sz="1200">
                <a:latin typeface="Arial"/>
                <a:ea typeface="Arial"/>
                <a:cs typeface="Arial"/>
                <a:sym typeface="Arial"/>
              </a:rPr>
              <a:t>Document Scanning (OCR):</a:t>
            </a:r>
            <a:r>
              <a:rPr lang="tr" sz="1200">
                <a:latin typeface="Arial"/>
                <a:ea typeface="Arial"/>
                <a:cs typeface="Arial"/>
                <a:sym typeface="Arial"/>
              </a:rPr>
              <a:t> Reading text from scanned papers.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b="1" lang="tr" sz="1200">
                <a:latin typeface="Arial"/>
                <a:ea typeface="Arial"/>
                <a:cs typeface="Arial"/>
                <a:sym typeface="Arial"/>
              </a:rPr>
              <a:t>Robotics:</a:t>
            </a:r>
            <a:r>
              <a:rPr lang="tr" sz="1200">
                <a:latin typeface="Arial"/>
                <a:ea typeface="Arial"/>
                <a:cs typeface="Arial"/>
                <a:sym typeface="Arial"/>
              </a:rPr>
              <a:t> Detecting lines or edges for autonomous navigation.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b="1" lang="tr" sz="1200">
                <a:latin typeface="Arial"/>
                <a:ea typeface="Arial"/>
                <a:cs typeface="Arial"/>
                <a:sym typeface="Arial"/>
              </a:rPr>
              <a:t>Biomedical Analysis:</a:t>
            </a:r>
            <a:r>
              <a:rPr lang="tr" sz="1200">
                <a:latin typeface="Arial"/>
                <a:ea typeface="Arial"/>
                <a:cs typeface="Arial"/>
                <a:sym typeface="Arial"/>
              </a:rPr>
              <a:t> Counting cells or bacteria in microscope images.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Parameter Selection &amp; Justification</a:t>
            </a:r>
            <a:endParaRPr/>
          </a:p>
        </p:txBody>
      </p:sp>
      <p:sp>
        <p:nvSpPr>
          <p:cNvPr id="192" name="Google Shape;192;p21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r" sz="1200"/>
              <a:t>Bullet</a:t>
            </a:r>
            <a:r>
              <a:rPr lang="tr" sz="1200"/>
              <a:t>: </a:t>
            </a:r>
            <a:endParaRPr sz="1200"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tr" sz="1200"/>
              <a:t>γ &lt; 1 expands dark pixel values</a:t>
            </a:r>
            <a:br>
              <a:rPr lang="tr" sz="1200"/>
            </a:b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tr" sz="1200"/>
              <a:t>CLAHE clipLimit prevents noise amplification</a:t>
            </a:r>
            <a:br>
              <a:rPr lang="tr" sz="1200"/>
            </a:b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tr" sz="1200"/>
              <a:t>Adaptive threshold handles non-uniform lighting better than global threshold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2"/>
          <p:cNvSpPr txBox="1"/>
          <p:nvPr>
            <p:ph type="title"/>
          </p:nvPr>
        </p:nvSpPr>
        <p:spPr>
          <a:xfrm>
            <a:off x="1088050" y="443200"/>
            <a:ext cx="76521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 sz="2100"/>
              <a:t>Mathematical Analysis</a:t>
            </a:r>
            <a:endParaRPr sz="2100"/>
          </a:p>
        </p:txBody>
      </p:sp>
      <p:sp>
        <p:nvSpPr>
          <p:cNvPr id="198" name="Google Shape;198;p22"/>
          <p:cNvSpPr txBox="1"/>
          <p:nvPr>
            <p:ph idx="1" type="body"/>
          </p:nvPr>
        </p:nvSpPr>
        <p:spPr>
          <a:xfrm>
            <a:off x="1088050" y="1015275"/>
            <a:ext cx="7652100" cy="223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tr" sz="1200">
                <a:latin typeface="Arial"/>
                <a:ea typeface="Arial"/>
                <a:cs typeface="Arial"/>
                <a:sym typeface="Arial"/>
              </a:rPr>
              <a:t>Bullet Points:</a:t>
            </a:r>
            <a:endParaRPr b="1" sz="1200">
              <a:latin typeface="Arial"/>
              <a:ea typeface="Arial"/>
              <a:cs typeface="Arial"/>
              <a:sym typeface="Arial"/>
            </a:endParaRPr>
          </a:p>
          <a:p>
            <a:pPr indent="-29337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lang="tr" sz="1200">
                <a:latin typeface="Arial"/>
                <a:ea typeface="Arial"/>
                <a:cs typeface="Arial"/>
                <a:sym typeface="Arial"/>
              </a:rPr>
              <a:t>We used </a:t>
            </a:r>
            <a:r>
              <a:rPr lang="tr" sz="1200">
                <a:latin typeface="Roboto Mono"/>
                <a:ea typeface="Roboto Mono"/>
                <a:cs typeface="Roboto Mono"/>
                <a:sym typeface="Roboto Mono"/>
              </a:rPr>
              <a:t>matplotlib</a:t>
            </a:r>
            <a:r>
              <a:rPr lang="tr" sz="1200">
                <a:latin typeface="Arial"/>
                <a:ea typeface="Arial"/>
                <a:cs typeface="Arial"/>
                <a:sym typeface="Arial"/>
              </a:rPr>
              <a:t> to validate our results mathematically.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29337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b="1" lang="tr" sz="1200">
                <a:latin typeface="Arial"/>
                <a:ea typeface="Arial"/>
                <a:cs typeface="Arial"/>
                <a:sym typeface="Arial"/>
              </a:rPr>
              <a:t>Histogram Analysis:</a:t>
            </a:r>
            <a:endParaRPr b="1" sz="1200">
              <a:latin typeface="Arial"/>
              <a:ea typeface="Arial"/>
              <a:cs typeface="Arial"/>
              <a:sym typeface="Arial"/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tr" sz="1200">
                <a:latin typeface="Arial"/>
                <a:ea typeface="Arial"/>
                <a:cs typeface="Arial"/>
                <a:sym typeface="Arial"/>
              </a:rPr>
              <a:t> - </a:t>
            </a:r>
            <a:r>
              <a:rPr b="1" lang="tr" sz="1200">
                <a:latin typeface="Arial"/>
                <a:ea typeface="Arial"/>
                <a:cs typeface="Arial"/>
                <a:sym typeface="Arial"/>
              </a:rPr>
              <a:t>Before:</a:t>
            </a:r>
            <a:r>
              <a:rPr lang="tr" sz="1200">
                <a:latin typeface="Arial"/>
                <a:ea typeface="Arial"/>
                <a:cs typeface="Arial"/>
                <a:sym typeface="Arial"/>
              </a:rPr>
              <a:t> Pixels are squeezed in the left (dark) region.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tr" sz="1200">
                <a:latin typeface="Arial"/>
                <a:ea typeface="Arial"/>
                <a:cs typeface="Arial"/>
                <a:sym typeface="Arial"/>
              </a:rPr>
              <a:t> - </a:t>
            </a:r>
            <a:r>
              <a:rPr b="1" lang="tr" sz="1200">
                <a:latin typeface="Arial"/>
                <a:ea typeface="Arial"/>
                <a:cs typeface="Arial"/>
                <a:sym typeface="Arial"/>
              </a:rPr>
              <a:t>After:</a:t>
            </a:r>
            <a:r>
              <a:rPr lang="tr" sz="1200">
                <a:latin typeface="Arial"/>
                <a:ea typeface="Arial"/>
                <a:cs typeface="Arial"/>
                <a:sym typeface="Arial"/>
              </a:rPr>
              <a:t> Pixels are distributed to the right (bright) region.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29337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b="1" lang="tr" sz="1200">
                <a:latin typeface="Arial"/>
                <a:ea typeface="Arial"/>
                <a:cs typeface="Arial"/>
                <a:sym typeface="Arial"/>
              </a:rPr>
              <a:t>CDF (Cumulative Distribution Function):</a:t>
            </a:r>
            <a:r>
              <a:rPr lang="tr" sz="1200">
                <a:latin typeface="Arial"/>
                <a:ea typeface="Arial"/>
                <a:cs typeface="Arial"/>
                <a:sym typeface="Arial"/>
              </a:rPr>
              <a:t> The linear trend in the CDF graph proves that the contrast is balanced.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9" name="Google Shape;199;p22" title="Screenshot from 2025-12-15 10-58-1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2550" y="3420750"/>
            <a:ext cx="2661301" cy="133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2" title="Screenshot from 2025-12-15 10-58-1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81712" y="3420750"/>
            <a:ext cx="2777825" cy="1335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2" title="Screenshot from 2025-12-15 10-58-2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78850" y="3420750"/>
            <a:ext cx="2661301" cy="133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3"/>
          <p:cNvSpPr txBox="1"/>
          <p:nvPr>
            <p:ph type="title"/>
          </p:nvPr>
        </p:nvSpPr>
        <p:spPr>
          <a:xfrm>
            <a:off x="1088050" y="369025"/>
            <a:ext cx="76494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 sz="2100"/>
              <a:t>Results Comparison</a:t>
            </a:r>
            <a:endParaRPr sz="2100"/>
          </a:p>
        </p:txBody>
      </p:sp>
      <p:sp>
        <p:nvSpPr>
          <p:cNvPr id="207" name="Google Shape;207;p23"/>
          <p:cNvSpPr txBox="1"/>
          <p:nvPr>
            <p:ph idx="1" type="body"/>
          </p:nvPr>
        </p:nvSpPr>
        <p:spPr>
          <a:xfrm>
            <a:off x="1088050" y="1031775"/>
            <a:ext cx="7649400" cy="195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tr" sz="1200">
                <a:latin typeface="Arial"/>
                <a:ea typeface="Arial"/>
                <a:cs typeface="Arial"/>
                <a:sym typeface="Arial"/>
              </a:rPr>
              <a:t>Title:</a:t>
            </a:r>
            <a:r>
              <a:rPr lang="tr" sz="1200">
                <a:latin typeface="Arial"/>
                <a:ea typeface="Arial"/>
                <a:cs typeface="Arial"/>
                <a:sym typeface="Arial"/>
              </a:rPr>
              <a:t> Visual Comparison of Results</a:t>
            </a:r>
            <a:endParaRPr i="1"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b="1" lang="tr" sz="1200">
                <a:latin typeface="Arial"/>
                <a:ea typeface="Arial"/>
                <a:cs typeface="Arial"/>
                <a:sym typeface="Arial"/>
              </a:rPr>
              <a:t>Original:</a:t>
            </a:r>
            <a:r>
              <a:rPr lang="tr" sz="1200">
                <a:latin typeface="Arial"/>
                <a:ea typeface="Arial"/>
                <a:cs typeface="Arial"/>
                <a:sym typeface="Arial"/>
              </a:rPr>
              <a:t> Too dark, low visibility.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b="1" lang="tr" sz="1200">
                <a:latin typeface="Arial"/>
                <a:ea typeface="Arial"/>
                <a:cs typeface="Arial"/>
                <a:sym typeface="Arial"/>
              </a:rPr>
              <a:t>Power-Law:</a:t>
            </a:r>
            <a:r>
              <a:rPr lang="tr" sz="1200">
                <a:latin typeface="Arial"/>
                <a:ea typeface="Arial"/>
                <a:cs typeface="Arial"/>
                <a:sym typeface="Arial"/>
              </a:rPr>
              <a:t> Natural colors, balanced brightness. (</a:t>
            </a:r>
            <a:r>
              <a:rPr b="1" lang="tr" sz="1200">
                <a:latin typeface="Arial"/>
                <a:ea typeface="Arial"/>
                <a:cs typeface="Arial"/>
                <a:sym typeface="Arial"/>
              </a:rPr>
              <a:t>Best Result</a:t>
            </a:r>
            <a:r>
              <a:rPr lang="tr" sz="1200">
                <a:latin typeface="Arial"/>
                <a:ea typeface="Arial"/>
                <a:cs typeface="Arial"/>
                <a:sym typeface="Arial"/>
              </a:rPr>
              <a:t>)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b="1" lang="tr" sz="1200">
                <a:latin typeface="Arial"/>
                <a:ea typeface="Arial"/>
                <a:cs typeface="Arial"/>
                <a:sym typeface="Arial"/>
              </a:rPr>
              <a:t>CLAHE:</a:t>
            </a:r>
            <a:r>
              <a:rPr lang="tr" sz="1200">
                <a:latin typeface="Arial"/>
                <a:ea typeface="Arial"/>
                <a:cs typeface="Arial"/>
                <a:sym typeface="Arial"/>
              </a:rPr>
              <a:t> High local contrast, high detail, but slightly sharper.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b="1" lang="tr" sz="1200">
                <a:latin typeface="Arial"/>
                <a:ea typeface="Arial"/>
                <a:cs typeface="Arial"/>
                <a:sym typeface="Arial"/>
              </a:rPr>
              <a:t>Thresholding:</a:t>
            </a:r>
            <a:r>
              <a:rPr lang="tr" sz="1200">
                <a:latin typeface="Arial"/>
                <a:ea typeface="Arial"/>
                <a:cs typeface="Arial"/>
                <a:sym typeface="Arial"/>
              </a:rPr>
              <a:t> Binary output, clear edges.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8" name="Google Shape;208;p23" title="Screenshot from 2025-12-15 11-11-2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806575"/>
            <a:ext cx="8839201" cy="17631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Limitations &amp; Failure Cases	</a:t>
            </a:r>
            <a:endParaRPr/>
          </a:p>
        </p:txBody>
      </p:sp>
      <p:sp>
        <p:nvSpPr>
          <p:cNvPr id="214" name="Google Shape;214;p2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tr"/>
              <a:t>Bullet</a:t>
            </a:r>
            <a:r>
              <a:rPr lang="tr"/>
              <a:t>: 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●"/>
            </a:pPr>
            <a:r>
              <a:rPr lang="tr"/>
              <a:t>Power-Law : Over-brightening if y is too small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tr"/>
              <a:t>CLAHE: Noise amplification in flat regions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tr"/>
              <a:t>Thresholding: Loss of color information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5"/>
          <p:cNvSpPr txBox="1"/>
          <p:nvPr>
            <p:ph type="title"/>
          </p:nvPr>
        </p:nvSpPr>
        <p:spPr>
          <a:xfrm>
            <a:off x="1088050" y="393750"/>
            <a:ext cx="76494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 sz="2100"/>
              <a:t>Conclusion &amp; Key Takeways</a:t>
            </a:r>
            <a:endParaRPr sz="2100"/>
          </a:p>
        </p:txBody>
      </p:sp>
      <p:sp>
        <p:nvSpPr>
          <p:cNvPr id="220" name="Google Shape;220;p25"/>
          <p:cNvSpPr txBox="1"/>
          <p:nvPr>
            <p:ph idx="1" type="body"/>
          </p:nvPr>
        </p:nvSpPr>
        <p:spPr>
          <a:xfrm>
            <a:off x="1088050" y="998775"/>
            <a:ext cx="7649400" cy="189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tr" sz="1200">
                <a:latin typeface="Arial"/>
                <a:ea typeface="Arial"/>
                <a:cs typeface="Arial"/>
                <a:sym typeface="Arial"/>
              </a:rPr>
              <a:t>Bullet Points:</a:t>
            </a:r>
            <a:endParaRPr b="1"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b="1" lang="tr" sz="1200">
                <a:latin typeface="Arial"/>
                <a:ea typeface="Arial"/>
                <a:cs typeface="Arial"/>
                <a:sym typeface="Arial"/>
              </a:rPr>
              <a:t>Best Method:</a:t>
            </a:r>
            <a:r>
              <a:rPr lang="tr" sz="12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tr" sz="1200">
                <a:latin typeface="Arial"/>
                <a:ea typeface="Arial"/>
                <a:cs typeface="Arial"/>
                <a:sym typeface="Arial"/>
              </a:rPr>
              <a:t>Power-Law Transformation</a:t>
            </a:r>
            <a:r>
              <a:rPr lang="tr" sz="1200">
                <a:latin typeface="Arial"/>
                <a:ea typeface="Arial"/>
                <a:cs typeface="Arial"/>
                <a:sym typeface="Arial"/>
              </a:rPr>
              <a:t> (γ=0.5) provided the most perceptually natural result for low-light photography.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b="1" lang="tr" sz="1200">
                <a:latin typeface="Arial"/>
                <a:ea typeface="Arial"/>
                <a:cs typeface="Arial"/>
                <a:sym typeface="Arial"/>
              </a:rPr>
              <a:t>Success:</a:t>
            </a:r>
            <a:r>
              <a:rPr lang="tr" sz="1200">
                <a:latin typeface="Arial"/>
                <a:ea typeface="Arial"/>
                <a:cs typeface="Arial"/>
                <a:sym typeface="Arial"/>
              </a:rPr>
              <a:t> We successfully manipulated pixel intensity distributions to recover lost data.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Char char="●"/>
            </a:pPr>
            <a:r>
              <a:rPr b="1" lang="tr" sz="1200">
                <a:latin typeface="Arial"/>
                <a:ea typeface="Arial"/>
                <a:cs typeface="Arial"/>
                <a:sym typeface="Arial"/>
              </a:rPr>
              <a:t>Future Work:</a:t>
            </a:r>
            <a:r>
              <a:rPr lang="tr" sz="1200">
                <a:latin typeface="Arial"/>
                <a:ea typeface="Arial"/>
                <a:cs typeface="Arial"/>
                <a:sym typeface="Arial"/>
              </a:rPr>
              <a:t> Deep Learning models (LLIE) could be implemented for better noise reduction.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5"/>
          <p:cNvSpPr txBox="1"/>
          <p:nvPr/>
        </p:nvSpPr>
        <p:spPr>
          <a:xfrm>
            <a:off x="1088050" y="3049800"/>
            <a:ext cx="7649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tr" sz="2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Thank you for listening :)</a:t>
            </a:r>
            <a:endParaRPr sz="2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